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48840"/>
          </a:xfrm>
          <a:prstGeom prst="rect">
            <a:avLst/>
          </a:prstGeom>
          <a:solidFill>
            <a:srgbClr val="123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48840"/>
            <a:ext cx="12191695" cy="109728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2258568"/>
            <a:ext cx="12191695" cy="54864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769096" y="420623"/>
            <a:ext cx="2761488" cy="91531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566928"/>
            <a:ext cx="2468880" cy="62270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2960" y="6400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74A52E"/>
                </a:solidFill>
                <a:latin typeface="Calibri"/>
              </a:rPr>
              <a:t>DIRECCIÓN GENERAL DE IMPUESTOS INTERNOS · BOOTCAMP CDPI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105156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 Light"/>
              </a:rPr>
              <a:t>Certificación de Impuestos al Día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83464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600" b="1" i="0">
                <a:solidFill>
                  <a:srgbClr val="123056"/>
                </a:solidFill>
                <a:latin typeface="Calibri Light"/>
              </a:rPr>
              <a:t>Una certificación fiscal como credencial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70332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600" b="0" i="0">
                <a:solidFill>
                  <a:srgbClr val="5B665E"/>
                </a:solidFill>
                <a:latin typeface="Calibri"/>
              </a:rPr>
              <a:t>Digital, verificable al instante y con privacidad por diseño. El ciudadano prueba que está al día sin exponer más de lo necesario, y la DGII conserva el control mediante revocación en tiempo real.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85216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1" i="0">
                <a:solidFill>
                  <a:srgbClr val="2C6D1D"/>
                </a:solidFill>
                <a:latin typeface="Calibri"/>
              </a:rPr>
              <a:t>Demostración de caso de uso · Prueba de concepto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20624"/>
            <a:ext cx="1417320" cy="35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5720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C6D1D"/>
                </a:solidFill>
                <a:latin typeface="Calibri"/>
              </a:rPr>
              <a:t>CONTEXTO Y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23056"/>
                </a:solidFill>
                <a:latin typeface="Calibri Light"/>
              </a:rPr>
              <a:t>Cómo se emite y verifica hoy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572768"/>
            <a:ext cx="2926080" cy="25603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55648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500" b="0" i="1">
                <a:solidFill>
                  <a:srgbClr val="5B665E"/>
                </a:solidFill>
                <a:latin typeface="Calibri"/>
              </a:rPr>
              <a:t>Hoy ya existe un servicio digital eficiente: se solicita en la Oficina Virtual y se emite en minutos (RD$300, PDF firmado con QR validable). El reto no está en emitir, sino en el modelo.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15184"/>
            <a:ext cx="5074920" cy="178308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615184"/>
            <a:ext cx="109728" cy="1783080"/>
          </a:xfrm>
          <a:prstGeom prst="rect">
            <a:avLst/>
          </a:prstGeom>
          <a:solidFill>
            <a:srgbClr val="A6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871215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A67C2B"/>
                </a:solidFill>
                <a:latin typeface="Calibri"/>
              </a:rPr>
              <a:t>Costo y trámite recurrentes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456432"/>
            <a:ext cx="457200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Vigencia de 30 días: al caducar, repetir todo y pagar otros RD$300.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Si lo pide un tercero: carta de autorización, cédulas y formulario.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615184"/>
            <a:ext cx="5074920" cy="178308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615184"/>
            <a:ext cx="109728" cy="1783080"/>
          </a:xfrm>
          <a:prstGeom prst="rect">
            <a:avLst/>
          </a:prstGeom>
          <a:solidFill>
            <a:srgbClr val="A6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871215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A67C2B"/>
                </a:solidFill>
                <a:latin typeface="Calibri"/>
              </a:rPr>
              <a:t>Atado a la DGII en línea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456432"/>
            <a:ext cx="457200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Validar exige conectividad al portal o app DGII; si falla, se detiene.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Sin escanear el QR, se confía en un PDF fácil de imitar.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498848"/>
            <a:ext cx="5074920" cy="178308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498848"/>
            <a:ext cx="109728" cy="1783080"/>
          </a:xfrm>
          <a:prstGeom prst="rect">
            <a:avLst/>
          </a:prstGeom>
          <a:solidFill>
            <a:srgbClr val="A6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754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A67C2B"/>
                </a:solidFill>
                <a:latin typeface="Calibri"/>
              </a:rPr>
              <a:t>Expone todos los datos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340096"/>
            <a:ext cx="457200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El PDF muestra RNC, dirección y obligaciones activas.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Sin revelación selectiva para probar solo “está al día”.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498848"/>
            <a:ext cx="5074920" cy="178308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498848"/>
            <a:ext cx="109728" cy="1783080"/>
          </a:xfrm>
          <a:prstGeom prst="rect">
            <a:avLst/>
          </a:prstGeom>
          <a:solidFill>
            <a:srgbClr val="A6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4754880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A67C2B"/>
                </a:solidFill>
                <a:latin typeface="Calibri"/>
              </a:rPr>
              <a:t>Una foto, no un estado en vivo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5340096"/>
            <a:ext cx="4572000" cy="777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Si cae en mora dentro del plazo, el PDF sigue validando.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No interoperable con verificadores internacionales.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DGII · Certificación de Impuestos al Día — Credencial Verificable · Bootcamp CDPI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20624"/>
            <a:ext cx="1417320" cy="35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5720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C6D1D"/>
                </a:solidFill>
                <a:latin typeface="Calibri"/>
              </a:rPr>
              <a:t>LA PROPUESTA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23056"/>
                </a:solidFill>
                <a:latin typeface="Calibri Light"/>
              </a:rPr>
              <a:t>Una certificación que se verifica sola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572768"/>
            <a:ext cx="2926080" cy="25603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1">
                <a:solidFill>
                  <a:srgbClr val="5B665E"/>
                </a:solidFill>
                <a:latin typeface="Calibri"/>
              </a:rPr>
              <a:t>La DGII emite la certificación como una credencial digital firmada que el ciudadano guarda en su billetera.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697480"/>
            <a:ext cx="5074920" cy="160020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697480"/>
            <a:ext cx="109728" cy="16002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9535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A prueba de manipulación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538728"/>
            <a:ext cx="457200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Firmada criptográficamente por la DGII.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Cualquier alteración la invalida al instante.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697480"/>
            <a:ext cx="5074920" cy="160020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697480"/>
            <a:ext cx="109728" cy="1600200"/>
          </a:xfrm>
          <a:prstGeom prst="rect">
            <a:avLst/>
          </a:prstGeom>
          <a:solidFill>
            <a:srgbClr val="123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9535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23056"/>
                </a:solidFill>
                <a:latin typeface="Calibri"/>
              </a:rPr>
              <a:t>Verificable al instante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538728"/>
            <a:ext cx="457200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123056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Se comprueba sin llamar a la DGII.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123056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Sin papeleo ni intermediarios.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526280"/>
            <a:ext cx="5074920" cy="160020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2960" y="4526280"/>
            <a:ext cx="109728" cy="16002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15568" y="47823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Privacidad por diseño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367528"/>
            <a:ext cx="457200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El ciudadano revela solo lo necesario.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Controla qué comparte en cada trámite.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9360" y="4526280"/>
            <a:ext cx="5074920" cy="160020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4526280"/>
            <a:ext cx="109728" cy="1600200"/>
          </a:xfrm>
          <a:prstGeom prst="rect">
            <a:avLst/>
          </a:prstGeom>
          <a:solidFill>
            <a:srgbClr val="123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1968" y="478231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23056"/>
                </a:solidFill>
                <a:latin typeface="Calibri"/>
              </a:rPr>
              <a:t>Control en tiempo real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01968" y="5367528"/>
            <a:ext cx="4572000" cy="5943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123056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La DGII puede revocarla cuando cambie el estado.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350" b="1" i="0">
                <a:solidFill>
                  <a:srgbClr val="123056"/>
                </a:solidFill>
                <a:latin typeface="Calibri"/>
              </a:rPr>
              <a:t>·  </a:t>
            </a:r>
            <a:r>
              <a:rPr sz="1350" b="0" i="0">
                <a:solidFill>
                  <a:srgbClr val="202A24"/>
                </a:solidFill>
                <a:latin typeface="Calibri"/>
              </a:rPr>
              <a:t>Deja de ser válida en el acto.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DGII · Certificación de Impuestos al Día — Credencial Verificable · Bootcamp CDPI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20624"/>
            <a:ext cx="1417320" cy="35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5720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C6D1D"/>
                </a:solidFill>
                <a:latin typeface="Calibri"/>
              </a:rPr>
              <a:t>EL MODELO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23056"/>
                </a:solidFill>
                <a:latin typeface="Calibri Light"/>
              </a:rPr>
              <a:t>Un modelo de confianza con tres actores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572768"/>
            <a:ext cx="2926080" cy="25603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3346704" cy="320040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109728" cy="32004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59152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DGII — Emisor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944368"/>
            <a:ext cx="284378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Valida el cumplimiento del contribuyente.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Emite y firma la certificación.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Puede revocarla si cambia el estado.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103120"/>
            <a:ext cx="3346704" cy="320040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103120"/>
            <a:ext cx="109728" cy="3200400"/>
          </a:xfrm>
          <a:prstGeom prst="rect">
            <a:avLst/>
          </a:prstGeom>
          <a:solidFill>
            <a:srgbClr val="A6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359152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A67C2B"/>
                </a:solidFill>
                <a:latin typeface="Calibri"/>
              </a:rPr>
              <a:t>Ciudadano — Titular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944368"/>
            <a:ext cx="284378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Recibe la credencial en su billetera digital.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La lleva consigo, siempre disponible.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Decide qué datos comparte y con quién.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103120"/>
            <a:ext cx="3346704" cy="320040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103120"/>
            <a:ext cx="109728" cy="3200400"/>
          </a:xfrm>
          <a:prstGeom prst="rect">
            <a:avLst/>
          </a:prstGeom>
          <a:solidFill>
            <a:srgbClr val="123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359152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23056"/>
                </a:solidFill>
                <a:latin typeface="Calibri"/>
              </a:rPr>
              <a:t>Banco — Verificador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944368"/>
            <a:ext cx="2843784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123056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Solicita la certificación al cliente.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123056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La valida al instante, sin llamar a la DGII.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123056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Recibe solo lo estrictamente necesario.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5321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 i="1">
                <a:solidFill>
                  <a:srgbClr val="5B665E"/>
                </a:solidFill>
                <a:latin typeface="Calibri"/>
              </a:rPr>
              <a:t>Confianza directa entre las partes, respaldada por la firma de la DGII — sin intermediarios.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DGII · Certificación de Impuestos al Día — Credencial Verificable · Bootcamp CDPI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20624"/>
            <a:ext cx="1417320" cy="35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5720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C6D1D"/>
                </a:solidFill>
                <a:latin typeface="Calibri"/>
              </a:rPr>
              <a:t>CÓMO FUNCIONA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23056"/>
                </a:solidFill>
                <a:latin typeface="Calibri Light"/>
              </a:rPr>
              <a:t>El ciclo de vida, en cuatro pasos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572768"/>
            <a:ext cx="2926080" cy="25603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468880"/>
            <a:ext cx="2514600" cy="228600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468880"/>
            <a:ext cx="2514600" cy="64008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42032"/>
            <a:ext cx="2514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1.  Emitir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3756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02A24"/>
                </a:solidFill>
                <a:latin typeface="Calibri"/>
              </a:rPr>
              <a:t>La DGII valida y emite la certificación firmada.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3383280"/>
            <a:ext cx="3017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5B665E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93592" y="2468880"/>
            <a:ext cx="2514600" cy="228600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593592" y="2468880"/>
            <a:ext cx="2514600" cy="640080"/>
          </a:xfrm>
          <a:prstGeom prst="rect">
            <a:avLst/>
          </a:prstGeom>
          <a:solidFill>
            <a:srgbClr val="A6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93592" y="2542032"/>
            <a:ext cx="2514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2.  Guardar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67912" y="333756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02A24"/>
                </a:solidFill>
                <a:latin typeface="Calibri"/>
              </a:rPr>
              <a:t>El ciudadano la recibe en su billetera digital.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9904" y="3383280"/>
            <a:ext cx="3017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5B665E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64224" y="2468880"/>
            <a:ext cx="2514600" cy="228600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64224" y="2468880"/>
            <a:ext cx="2514600" cy="640080"/>
          </a:xfrm>
          <a:prstGeom prst="rect">
            <a:avLst/>
          </a:prstGeom>
          <a:solidFill>
            <a:srgbClr val="123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64224" y="2542032"/>
            <a:ext cx="2514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3.  Verificar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38544" y="333756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02A24"/>
                </a:solidFill>
                <a:latin typeface="Calibri"/>
              </a:rPr>
              <a:t>El banco la valida con revelación selectiva.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0536" y="3383280"/>
            <a:ext cx="301752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5B665E"/>
                </a:solidFill>
                <a:latin typeface="Calibri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34856" y="2468880"/>
            <a:ext cx="2514600" cy="228600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34856" y="2468880"/>
            <a:ext cx="2514600" cy="640080"/>
          </a:xfrm>
          <a:prstGeom prst="rect">
            <a:avLst/>
          </a:prstGeom>
          <a:solidFill>
            <a:srgbClr val="B02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34856" y="2542032"/>
            <a:ext cx="25146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4.  Revocar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09176" y="3337560"/>
            <a:ext cx="20116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202A24"/>
                </a:solidFill>
                <a:latin typeface="Calibri"/>
              </a:rPr>
              <a:t>Si cae en mora, la DGII la invalida en el acto.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52120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2000"/>
              </a:lnSpc>
              <a:spcAft>
                <a:spcPts val="0"/>
              </a:spcAft>
            </a:pPr>
            <a:r>
              <a:rPr sz="1400" b="0" i="1">
                <a:solidFill>
                  <a:srgbClr val="5B665E"/>
                </a:solidFill>
                <a:latin typeface="Calibri"/>
              </a:rPr>
              <a:t>Estándares abiertos de extremo a extremo — emisión, resguardo, verificación y revocación.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DGII · Certificación de Impuestos al Día — Credencial Verificable · Bootcamp CDPI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20624"/>
            <a:ext cx="1417320" cy="35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5720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C6D1D"/>
                </a:solidFill>
                <a:latin typeface="Calibri"/>
              </a:rPr>
              <a:t>EL DIFERENCIADOR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23056"/>
                </a:solidFill>
                <a:latin typeface="Calibri Light"/>
              </a:rPr>
              <a:t>Privacidad: revelación selectiva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572768"/>
            <a:ext cx="2926080" cy="25603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424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800" b="1" i="0">
                <a:solidFill>
                  <a:srgbClr val="123056"/>
                </a:solidFill>
                <a:latin typeface="Calibri"/>
              </a:rPr>
              <a:t>Probar que está al día — sin exponer nada más. El ciudadano elige qué revela en cada presentación.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743200"/>
            <a:ext cx="5074920" cy="265176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743200"/>
            <a:ext cx="109728" cy="265176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299923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✓  Lo que el banco recibe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3584448"/>
            <a:ext cx="4572000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500" b="0" i="0">
                <a:solidFill>
                  <a:srgbClr val="202A24"/>
                </a:solidFill>
                <a:latin typeface="Calibri"/>
              </a:rPr>
              <a:t>Estado de cumplimiento:  AL DÍA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500" b="0" i="0">
                <a:solidFill>
                  <a:srgbClr val="202A24"/>
                </a:solidFill>
                <a:latin typeface="Calibri"/>
              </a:rPr>
              <a:t>(y, si se solicita, el RNC)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2743200"/>
            <a:ext cx="5074920" cy="265176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2743200"/>
            <a:ext cx="109728" cy="2651760"/>
          </a:xfrm>
          <a:prstGeom prst="rect">
            <a:avLst/>
          </a:prstGeom>
          <a:solidFill>
            <a:srgbClr val="5B66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999232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5B665E"/>
                </a:solidFill>
                <a:latin typeface="Calibri"/>
              </a:rPr>
              <a:t>✕  Lo que NO se expone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3584448"/>
            <a:ext cx="4572000" cy="16459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5B665E"/>
                </a:solidFill>
                <a:latin typeface="Calibri"/>
              </a:rPr>
              <a:t>·  </a:t>
            </a:r>
            <a:r>
              <a:rPr sz="1500" b="0" i="0">
                <a:solidFill>
                  <a:srgbClr val="202A24"/>
                </a:solidFill>
                <a:latin typeface="Calibri"/>
              </a:rPr>
              <a:t>Razón social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5B665E"/>
                </a:solidFill>
                <a:latin typeface="Calibri"/>
              </a:rPr>
              <a:t>·  </a:t>
            </a:r>
            <a:r>
              <a:rPr sz="1500" b="0" i="0">
                <a:solidFill>
                  <a:srgbClr val="202A24"/>
                </a:solidFill>
                <a:latin typeface="Calibri"/>
              </a:rPr>
              <a:t>Domicilio fiscal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5B665E"/>
                </a:solidFill>
                <a:latin typeface="Calibri"/>
              </a:rPr>
              <a:t>·  </a:t>
            </a:r>
            <a:r>
              <a:rPr sz="1500" b="0" i="0">
                <a:solidFill>
                  <a:srgbClr val="202A24"/>
                </a:solidFill>
                <a:latin typeface="Calibri"/>
              </a:rPr>
              <a:t>Obligaciones activas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500" b="1" i="0">
                <a:solidFill>
                  <a:srgbClr val="5B665E"/>
                </a:solidFill>
                <a:latin typeface="Calibri"/>
              </a:rPr>
              <a:t>·  </a:t>
            </a:r>
            <a:r>
              <a:rPr sz="1500" b="0" i="0">
                <a:solidFill>
                  <a:srgbClr val="202A24"/>
                </a:solidFill>
                <a:latin typeface="Calibri"/>
              </a:rPr>
              <a:t>Régimen y actividad económica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DGII · Certificación de Impuestos al Día — Credencial Verificable · Bootcamp CDPI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20624"/>
            <a:ext cx="1417320" cy="35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5720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C6D1D"/>
                </a:solidFill>
                <a:latin typeface="Calibri"/>
              </a:rPr>
              <a:t>EL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23056"/>
                </a:solidFill>
                <a:latin typeface="Calibri Light"/>
              </a:rPr>
              <a:t>Revocación en tiempo real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572768"/>
            <a:ext cx="2926080" cy="25603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8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23056"/>
                </a:solidFill>
                <a:latin typeface="Calibri"/>
              </a:rPr>
              <a:t>Si el contribuyente cae en mora, </a:t>
            </a:r>
            <a:r>
              <a:rPr sz="1800" b="0" i="0">
                <a:solidFill>
                  <a:srgbClr val="202A24"/>
                </a:solidFill>
                <a:latin typeface="Calibri"/>
              </a:rPr>
              <a:t>la DGII revoca la certificación desde su sistema.</a:t>
            </a: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8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23056"/>
                </a:solidFill>
                <a:latin typeface="Calibri"/>
              </a:rPr>
              <a:t>El rechazo es inmediato. </a:t>
            </a:r>
            <a:r>
              <a:rPr sz="1800" b="0" i="0">
                <a:solidFill>
                  <a:srgbClr val="202A24"/>
                </a:solidFill>
                <a:latin typeface="Calibri"/>
              </a:rPr>
              <a:t>Cualquier verificador la da como no válida — sin recuperar ningún documento físico.</a:t>
            </a: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8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23056"/>
                </a:solidFill>
                <a:latin typeface="Calibri"/>
              </a:rPr>
              <a:t>La credencial es una foto firmada. </a:t>
            </a:r>
            <a:r>
              <a:rPr sz="1800" b="0" i="0">
                <a:solidFill>
                  <a:srgbClr val="202A24"/>
                </a:solidFill>
                <a:latin typeface="Calibri"/>
              </a:rPr>
              <a:t>No se “edita”: la revocación la invalida, sin volver a exponer al ciudadano.</a:t>
            </a:r>
          </a:p>
          <a:p>
            <a:pPr algn="l">
              <a:lnSpc>
                <a:spcPct val="112000"/>
              </a:lnSpc>
              <a:spcAft>
                <a:spcPts val="1600"/>
              </a:spcAft>
            </a:pPr>
            <a:r>
              <a:rPr sz="18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123056"/>
                </a:solidFill>
                <a:latin typeface="Calibri"/>
              </a:rPr>
              <a:t>En la demostración, </a:t>
            </a:r>
            <a:r>
              <a:rPr sz="1800" b="0" i="0">
                <a:solidFill>
                  <a:srgbClr val="202A24"/>
                </a:solidFill>
                <a:latin typeface="Calibri"/>
              </a:rPr>
              <a:t>al revocar, el registro marca al contribuyente EN MORA y el portal del banco muestra “Credencial no válida — estado actual: EN MORA”.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DGII · Certificación de Impuestos al Día — Credencial Verificable · Bootcamp CDPI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20624"/>
            <a:ext cx="1417320" cy="35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5720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C6D1D"/>
                </a:solidFill>
                <a:latin typeface="Calibri"/>
              </a:rPr>
              <a:t>EL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23056"/>
                </a:solidFill>
                <a:latin typeface="Calibri Light"/>
              </a:rPr>
              <a:t>Beneficios para todos los actores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572768"/>
            <a:ext cx="2926080" cy="25603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2103120"/>
            <a:ext cx="3346704" cy="329184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2103120"/>
            <a:ext cx="109728" cy="329184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359152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Para la DGII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944368"/>
            <a:ext cx="284378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Menos fraude documental.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Menos carga operativa: menos consultas y validaciones manuales.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2C6D1D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Modernización e imagen de identidad digital.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16552" y="2103120"/>
            <a:ext cx="3346704" cy="329184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16552" y="2103120"/>
            <a:ext cx="109728" cy="3291840"/>
          </a:xfrm>
          <a:prstGeom prst="rect">
            <a:avLst/>
          </a:prstGeom>
          <a:solidFill>
            <a:srgbClr val="A6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2359152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A67C2B"/>
                </a:solidFill>
                <a:latin typeface="Calibri"/>
              </a:rPr>
              <a:t>Para el ciudadano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944368"/>
            <a:ext cx="284378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Privacidad: comparte solo lo necesario.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Control de sus propios datos.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A67C2B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Portátil y disponible 24/7.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10144" y="2103120"/>
            <a:ext cx="3346704" cy="3291840"/>
          </a:xfrm>
          <a:prstGeom prst="roundRect">
            <a:avLst/>
          </a:prstGeom>
          <a:solidFill>
            <a:srgbClr val="EEF2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10144" y="2103120"/>
            <a:ext cx="109728" cy="3291840"/>
          </a:xfrm>
          <a:prstGeom prst="rect">
            <a:avLst/>
          </a:prstGeom>
          <a:solidFill>
            <a:srgbClr val="123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2752" y="2359152"/>
            <a:ext cx="284378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700" b="1" i="0">
                <a:solidFill>
                  <a:srgbClr val="123056"/>
                </a:solidFill>
                <a:latin typeface="Calibri"/>
              </a:rPr>
              <a:t>Para bancos y entidades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02752" y="2944368"/>
            <a:ext cx="2843784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123056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Confianza instantánea, sin llamadas.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123056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Menor costo y fricción en verificación (KYC).</a:t>
            </a:r>
          </a:p>
          <a:p>
            <a:pPr algn="l">
              <a:lnSpc>
                <a:spcPct val="112000"/>
              </a:lnSpc>
              <a:spcAft>
                <a:spcPts val="800"/>
              </a:spcAft>
            </a:pPr>
            <a:r>
              <a:rPr sz="1400" b="1" i="0">
                <a:solidFill>
                  <a:srgbClr val="123056"/>
                </a:solidFill>
                <a:latin typeface="Calibri"/>
              </a:rPr>
              <a:t>·  </a:t>
            </a:r>
            <a:r>
              <a:rPr sz="1400" b="0" i="0">
                <a:solidFill>
                  <a:srgbClr val="202A24"/>
                </a:solidFill>
                <a:latin typeface="Calibri"/>
              </a:rPr>
              <a:t>Menor riesgo de aceptar documentos falsos.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DGII · Certificación de Impuestos al Día — Credencial Verificable · Bootcamp CDPI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651760"/>
            <a:ext cx="12191695" cy="91440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69096" y="493775"/>
            <a:ext cx="2761488" cy="91531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640080"/>
            <a:ext cx="2468880" cy="6227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28016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74A52E"/>
                </a:solidFill>
                <a:latin typeface="Calibri"/>
              </a:rPr>
              <a:t>EN VIVO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69164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 Light"/>
              </a:rPr>
              <a:t>Demostración del demo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97180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Flujo de punta a punta sobre estándares abiertos: la DGII emite → el ciudadano recibe por correo (QR) → el banco verifica con revelación selectiva → la DGII revoca en tiempo real.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6052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 i="0">
                <a:solidFill>
                  <a:srgbClr val="74A52E"/>
                </a:solidFill>
                <a:latin typeface="Calibri"/>
              </a:rPr>
              <a:t>1 · Emitir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La DGII valida el RNC y firma la certificación.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84448" y="416052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 i="0">
                <a:solidFill>
                  <a:srgbClr val="74A52E"/>
                </a:solidFill>
                <a:latin typeface="Calibri"/>
              </a:rPr>
              <a:t>2 · Tener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El ciudadano la recibe en su wallet (correo + QR).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5936" y="416052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 i="0">
                <a:solidFill>
                  <a:srgbClr val="74A52E"/>
                </a:solidFill>
                <a:latin typeface="Calibri"/>
              </a:rPr>
              <a:t>3 · Verificar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El banco la valida — solo ve “al día”.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07424" y="4160520"/>
            <a:ext cx="2606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500"/>
              </a:spcAft>
            </a:pPr>
            <a:r>
              <a:rPr sz="1700" b="1" i="0">
                <a:solidFill>
                  <a:srgbClr val="74A52E"/>
                </a:solidFill>
                <a:latin typeface="Calibri"/>
              </a:rPr>
              <a:t>4 · Revocar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Si cae en mora, deja de ser válida en el acto.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43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300" b="0" i="1">
                <a:solidFill>
                  <a:srgbClr val="74A52E"/>
                </a:solidFill>
                <a:latin typeface="Calibri"/>
              </a:rPr>
              <a:t>Dos portales: Oficina Virtual de la DGII (emisor) y Portal del Banco «Banco de las Antillas» (verificador).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20624"/>
            <a:ext cx="1417320" cy="35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5720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C6D1D"/>
                </a:solidFill>
                <a:latin typeface="Calibri"/>
              </a:rPr>
              <a:t>LA PRUEBA DE CONCEPTO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23056"/>
                </a:solidFill>
                <a:latin typeface="Calibri Light"/>
              </a:rPr>
              <a:t>Lo que ya demostramos, funcionando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572768"/>
            <a:ext cx="2926080" cy="25603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Flujo completo de extremo a extremo.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La DGII emite → el ciudadano recibe (correo y QR) → el banco verifica → la DGII revoca.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Dos portales.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Oficina Virtual de la DGII (emisor) y portal del banco (verificador).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Privacidad real.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Revelación selectiva: el banco solo ve “al día”.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Control real.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Revocación en tiempo real, con el contraste al día ↔ en mora.</a:t>
            </a:r>
          </a:p>
          <a:p>
            <a:pPr algn="l">
              <a:lnSpc>
                <a:spcPct val="112000"/>
              </a:lnSpc>
              <a:spcAft>
                <a:spcPts val="13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Estándares abiertos.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Sin quedar atado a un proveedor; interoperable con billeteras de terceros.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DGII · Certificación de Impuestos al Día — Credencial Verificable · Bootcamp CDPI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20624"/>
            <a:ext cx="1417320" cy="35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5720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C6D1D"/>
                </a:solidFill>
                <a:latin typeface="Calibri"/>
              </a:rPr>
              <a:t>LA BASE TECNOLÓGICA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23056"/>
                </a:solidFill>
                <a:latin typeface="Calibri Light"/>
              </a:rPr>
              <a:t>Construido sobre estándares abiertos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572768"/>
            <a:ext cx="2926080" cy="25603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Formato SD-JWT VC y protocolos OpenID4VCI / OpenID4VP.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Estándares internacionales para emitir y presentar credenciales.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Identidad del emisor verificable.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La DGII se identifica de forma comprobable (did:web) — el verificador confía en el origen.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Revocación por listas de estado.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Mecanismo estándar para invalidar credenciales en tiempo real.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Interoperable y sin dependencia de proveedor.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Compatible con billeteras y verificadores de terceros; alineado con las tendencias globales de identidad digital.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DGII · Certificación de Impuestos al Día — Credencial Verificable · Bootcamp CDPI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C6D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12680" y="420624"/>
            <a:ext cx="1417320" cy="357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457200"/>
            <a:ext cx="8869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1" i="0">
                <a:solidFill>
                  <a:srgbClr val="2C6D1D"/>
                </a:solidFill>
                <a:latin typeface="Calibri"/>
              </a:rPr>
              <a:t>EL SIGUIENTE PASO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49808"/>
            <a:ext cx="905256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0"/>
              </a:spcAft>
            </a:pPr>
            <a:r>
              <a:rPr sz="3000" b="1" i="0">
                <a:solidFill>
                  <a:srgbClr val="123056"/>
                </a:solidFill>
                <a:latin typeface="Calibri Light"/>
              </a:rPr>
              <a:t>Del demo hacia producción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795528" y="1572768"/>
            <a:ext cx="2926080" cy="25603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515600" cy="5486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Identidad oficial y registro de confianza.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Publicar la identidad de la DGII (did:web:dgii.gob.do) y un registro de emisores confiables.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Firma con HSM y gobierno de claves.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Nivel de seguridad institucional para la firma de credenciales.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Integración con los sistemas tributarios.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Conectar con SIT / OFV como fuente de verdad del cumplimiento.</a:t>
            </a:r>
          </a:p>
          <a:p>
            <a:pPr algn="l">
              <a:lnSpc>
                <a:spcPct val="112000"/>
              </a:lnSpc>
              <a:spcAft>
                <a:spcPts val="1500"/>
              </a:spcAft>
            </a:pPr>
            <a:r>
              <a:rPr sz="1700" b="1" i="0">
                <a:solidFill>
                  <a:srgbClr val="2C6D1D"/>
                </a:solidFill>
                <a:latin typeface="Calibri"/>
              </a:rPr>
              <a:t>▪  </a:t>
            </a:r>
            <a:r>
              <a:rPr sz="1700" b="1" i="0">
                <a:solidFill>
                  <a:srgbClr val="123056"/>
                </a:solidFill>
                <a:latin typeface="Calibri"/>
              </a:rPr>
              <a:t>Piloto con una entidad financiera. </a:t>
            </a:r>
            <a:r>
              <a:rPr sz="1700" b="0" i="0">
                <a:solidFill>
                  <a:srgbClr val="202A24"/>
                </a:solidFill>
                <a:latin typeface="Calibri"/>
              </a:rPr>
              <a:t>Validar adopción, experiencia de usuario e impacto operativo.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DGII · Certificación de Impuestos al Día — Credencial Verificable · Bootcamp CDPI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19088"/>
            <a:ext cx="822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0"/>
              </a:spcAft>
            </a:pPr>
            <a:r>
              <a:rPr sz="900" b="0" i="0">
                <a:solidFill>
                  <a:srgbClr val="5B665E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0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88920"/>
            <a:ext cx="12191695" cy="91440"/>
          </a:xfrm>
          <a:prstGeom prst="rect">
            <a:avLst/>
          </a:prstGeom>
          <a:solidFill>
            <a:srgbClr val="74A5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769096" y="493775"/>
            <a:ext cx="2761488" cy="915314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0" y="640080"/>
            <a:ext cx="2468880" cy="62270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" y="1371600"/>
            <a:ext cx="7680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400" b="1" i="0">
                <a:solidFill>
                  <a:srgbClr val="74A52E"/>
                </a:solidFill>
                <a:latin typeface="Calibri"/>
              </a:rPr>
              <a:t>EN RESUMEN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 Light"/>
              </a:rPr>
              <a:t>Una certificación fiscal más segura, más privada y verificable al instante.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29184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 i="0">
                <a:solidFill>
                  <a:srgbClr val="74A52E"/>
                </a:solidFill>
                <a:latin typeface="Calibri"/>
              </a:rPr>
              <a:t>Menos fraude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Firmada por la DGII, imposible de falsificar.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29184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 i="0">
                <a:solidFill>
                  <a:srgbClr val="74A52E"/>
                </a:solidFill>
                <a:latin typeface="Calibri"/>
              </a:rPr>
              <a:t>Más privacidad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El ciudadano revela solo lo necesario.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291840"/>
            <a:ext cx="338328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800" b="1" i="0">
                <a:solidFill>
                  <a:srgbClr val="74A52E"/>
                </a:solidFill>
                <a:latin typeface="Calibri"/>
              </a:rPr>
              <a:t>Cero fricción</a:t>
            </a:r>
          </a:p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Verificación inmediata y revocación en tiempo real.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 Light"/>
              </a:rPr>
              <a:t>Gracias. 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